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0" r:id="rId8"/>
    <p:sldId id="265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F0-E9B8-4C37-A768-BDB2A473E942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E57-DBAA-4149-819B-1AA3E7D1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339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F0-E9B8-4C37-A768-BDB2A473E942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E57-DBAA-4149-819B-1AA3E7D1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200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F0-E9B8-4C37-A768-BDB2A473E942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E57-DBAA-4149-819B-1AA3E7D1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979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F0-E9B8-4C37-A768-BDB2A473E942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E57-DBAA-4149-819B-1AA3E7D1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007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F0-E9B8-4C37-A768-BDB2A473E942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E57-DBAA-4149-819B-1AA3E7D1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969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F0-E9B8-4C37-A768-BDB2A473E942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E57-DBAA-4149-819B-1AA3E7D1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090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F0-E9B8-4C37-A768-BDB2A473E942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E57-DBAA-4149-819B-1AA3E7D1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215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F0-E9B8-4C37-A768-BDB2A473E942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E57-DBAA-4149-819B-1AA3E7D1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637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F0-E9B8-4C37-A768-BDB2A473E942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E57-DBAA-4149-819B-1AA3E7D1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371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F0-E9B8-4C37-A768-BDB2A473E942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E57-DBAA-4149-819B-1AA3E7D1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073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F0-E9B8-4C37-A768-BDB2A473E942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E57-DBAA-4149-819B-1AA3E7D1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993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F0-E9B8-4C37-A768-BDB2A473E942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E57-DBAA-4149-819B-1AA3E7D1659F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4808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F0-E9B8-4C37-A768-BDB2A473E942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E57-DBAA-4149-819B-1AA3E7D1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9710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F0-E9B8-4C37-A768-BDB2A473E942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E57-DBAA-4149-819B-1AA3E7D1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3321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F0-E9B8-4C37-A768-BDB2A473E942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E57-DBAA-4149-819B-1AA3E7D1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36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F0-E9B8-4C37-A768-BDB2A473E942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E57-DBAA-4149-819B-1AA3E7D1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7943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F0-E9B8-4C37-A768-BDB2A473E942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E57-DBAA-4149-819B-1AA3E7D1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282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F4D67F0-E9B8-4C37-A768-BDB2A473E942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00E57-DBAA-4149-819B-1AA3E7D1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4180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1219200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50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2521"/>
            <a:ext cx="10515600" cy="55659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                           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331" y="1311965"/>
            <a:ext cx="3790122" cy="544664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Sample Mode</a:t>
            </a:r>
            <a:r>
              <a:rPr lang="en-US" dirty="0"/>
              <a:t> in IBM SPSS Modeler is used to select a </a:t>
            </a:r>
            <a:r>
              <a:rPr lang="en-US" b="1" dirty="0"/>
              <a:t>subset of records from a large dataset</a:t>
            </a:r>
            <a:r>
              <a:rPr lang="en-US" dirty="0"/>
              <a:t>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It </a:t>
            </a:r>
            <a:r>
              <a:rPr lang="en-US" dirty="0"/>
              <a:t>helps divide data into </a:t>
            </a:r>
            <a:r>
              <a:rPr lang="en-US" b="1" dirty="0"/>
              <a:t>training and testing samples</a:t>
            </a:r>
            <a:r>
              <a:rPr lang="en-US" dirty="0"/>
              <a:t> for predictive analysis.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training sample is used to build the model, while the testing sample is used to evaluate its performance</a:t>
            </a:r>
            <a:r>
              <a:rPr lang="en-US" dirty="0" smtClean="0"/>
              <a:t>.  </a:t>
            </a:r>
          </a:p>
          <a:p>
            <a:r>
              <a:rPr lang="en-US" b="1" dirty="0"/>
              <a:t>Example: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📊 </a:t>
            </a:r>
            <a:r>
              <a:rPr lang="en-US" b="1" dirty="0"/>
              <a:t>1,000 records → 700 Training records + 300 Testing records</a:t>
            </a:r>
            <a:endParaRPr lang="en-US" dirty="0"/>
          </a:p>
          <a:p>
            <a:r>
              <a:rPr lang="en-US" dirty="0"/>
              <a:t>👉 </a:t>
            </a:r>
            <a:r>
              <a:rPr lang="en-US" b="1" dirty="0"/>
              <a:t>In simple words:</a:t>
            </a:r>
            <a:r>
              <a:rPr lang="en-US" dirty="0"/>
              <a:t> Sampling Mode helps select a suitable part of the data for </a:t>
            </a:r>
            <a:r>
              <a:rPr lang="en-US" b="1" dirty="0"/>
              <a:t>building and testing a model</a:t>
            </a:r>
            <a:r>
              <a:rPr lang="en-US" dirty="0" smtClean="0"/>
              <a:t>.    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</a:t>
            </a:r>
            <a:endParaRPr lang="en-US" dirty="0"/>
          </a:p>
          <a:p>
            <a:pPr marL="0" indent="0">
              <a:buNone/>
            </a:pPr>
            <a:endParaRPr lang="en-IN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975" y="834886"/>
            <a:ext cx="7686260" cy="597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627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6607" y="212034"/>
            <a:ext cx="7540487" cy="1258957"/>
          </a:xfrm>
        </p:spPr>
        <p:txBody>
          <a:bodyPr/>
          <a:lstStyle/>
          <a:p>
            <a:r>
              <a:rPr lang="en-US" dirty="0"/>
              <a:t>Purpose of Training and Testing Samples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62" y="1895060"/>
            <a:ext cx="3962400" cy="4306957"/>
          </a:xfrm>
        </p:spPr>
        <p:txBody>
          <a:bodyPr>
            <a:normAutofit fontScale="92500" lnSpcReduction="20000"/>
          </a:bodyPr>
          <a:lstStyle/>
          <a:p>
            <a:r>
              <a:rPr lang="en-IN" dirty="0" smtClean="0"/>
              <a:t>Purpose of training samples –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It is used to </a:t>
            </a:r>
            <a:r>
              <a:rPr lang="en-US" altLang="en-US" b="1" dirty="0">
                <a:latin typeface="Arial" panose="020B0604020202020204" pitchFamily="34" charset="0"/>
              </a:rPr>
              <a:t>train or build the model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 model learns patterns and relationships from the training data.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It usually contains a larger portion of the dataset</a:t>
            </a:r>
            <a:r>
              <a:rPr lang="en-US" altLang="en-US" dirty="0" smtClean="0">
                <a:latin typeface="Arial" panose="020B0604020202020204" pitchFamily="34" charset="0"/>
              </a:rPr>
              <a:t>. </a:t>
            </a:r>
          </a:p>
          <a:p>
            <a:pPr marL="0" indent="0">
              <a:buNone/>
            </a:pPr>
            <a:r>
              <a:rPr lang="en-US" dirty="0" smtClean="0"/>
              <a:t>  Purpose of testing samples -  </a:t>
            </a:r>
          </a:p>
          <a:p>
            <a:pPr marL="0" indent="0">
              <a:buNone/>
            </a:pPr>
            <a:r>
              <a:rPr lang="en-US" dirty="0" smtClean="0"/>
              <a:t>It is used to evaluate  the accuracy of the model </a:t>
            </a:r>
          </a:p>
          <a:p>
            <a:pPr marL="0" indent="0">
              <a:buNone/>
            </a:pPr>
            <a:r>
              <a:rPr lang="en-US" dirty="0" smtClean="0"/>
              <a:t>It is used to identify errors or incomplete predictions in data.  </a:t>
            </a:r>
          </a:p>
          <a:p>
            <a:pPr marL="0" indent="0">
              <a:buNone/>
            </a:pPr>
            <a:r>
              <a:rPr lang="en-US" dirty="0"/>
              <a:t>.</a:t>
            </a:r>
            <a:r>
              <a:rPr lang="en-US" dirty="0" smtClean="0"/>
              <a:t>It is used to  </a:t>
            </a:r>
            <a:r>
              <a:rPr lang="en-US" dirty="0"/>
              <a:t>determine whether the model can </a:t>
            </a:r>
            <a:r>
              <a:rPr lang="en-US" b="1" dirty="0"/>
              <a:t>generalize</a:t>
            </a:r>
            <a:r>
              <a:rPr lang="en-US" dirty="0"/>
              <a:t> beyond the training data.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539" y="1643269"/>
            <a:ext cx="7195931" cy="510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277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145775"/>
            <a:ext cx="10459211" cy="1272208"/>
          </a:xfrm>
        </p:spPr>
        <p:txBody>
          <a:bodyPr/>
          <a:lstStyle/>
          <a:p>
            <a:r>
              <a:rPr lang="en-IN" dirty="0" smtClean="0"/>
              <a:t>Types of sampling method in </a:t>
            </a:r>
            <a:r>
              <a:rPr lang="en-IN" dirty="0" err="1" smtClean="0"/>
              <a:t>ibm</a:t>
            </a:r>
            <a:r>
              <a:rPr lang="en-IN" dirty="0" smtClean="0"/>
              <a:t> </a:t>
            </a:r>
            <a:r>
              <a:rPr lang="en-IN" dirty="0" err="1" smtClean="0"/>
              <a:t>spss</a:t>
            </a:r>
            <a:r>
              <a:rPr lang="en-IN" dirty="0" smtClean="0"/>
              <a:t> modeller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556" y="2026414"/>
            <a:ext cx="2743201" cy="4546665"/>
          </a:xfrm>
        </p:spPr>
        <p:txBody>
          <a:bodyPr/>
          <a:lstStyle/>
          <a:p>
            <a:r>
              <a:rPr lang="en-IN" dirty="0" smtClean="0"/>
              <a:t>Random sampling </a:t>
            </a:r>
          </a:p>
          <a:p>
            <a:r>
              <a:rPr lang="en-IN" dirty="0" smtClean="0"/>
              <a:t>Systematic Sampling </a:t>
            </a:r>
          </a:p>
          <a:p>
            <a:r>
              <a:rPr lang="en-IN" dirty="0" smtClean="0"/>
              <a:t>Percentage Sampling </a:t>
            </a:r>
          </a:p>
          <a:p>
            <a:r>
              <a:rPr lang="en-IN" dirty="0" smtClean="0"/>
              <a:t>Fixed Number sampling   </a:t>
            </a:r>
          </a:p>
          <a:p>
            <a:r>
              <a:rPr lang="en-IN" dirty="0" smtClean="0"/>
              <a:t>First N Records 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183" y="1417983"/>
            <a:ext cx="9554817" cy="544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755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1" y="212035"/>
            <a:ext cx="8946541" cy="1457739"/>
          </a:xfrm>
        </p:spPr>
        <p:txBody>
          <a:bodyPr/>
          <a:lstStyle/>
          <a:p>
            <a:r>
              <a:rPr lang="en-US" dirty="0"/>
              <a:t>Creating Samples in IBM SPSS Modeler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3" y="2052918"/>
            <a:ext cx="3601209" cy="433463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Open IBM SPSS Modeler</a:t>
            </a:r>
            <a:r>
              <a:rPr lang="en-US" dirty="0"/>
              <a:t> and create a new stream</a:t>
            </a:r>
            <a:r>
              <a:rPr lang="en-US" dirty="0" smtClean="0"/>
              <a:t>. </a:t>
            </a:r>
          </a:p>
          <a:p>
            <a:r>
              <a:rPr lang="en-US" b="1" dirty="0" smtClean="0"/>
              <a:t>Import </a:t>
            </a:r>
            <a:r>
              <a:rPr lang="en-US" b="1" dirty="0"/>
              <a:t>the dataset</a:t>
            </a:r>
            <a:r>
              <a:rPr lang="en-US" dirty="0"/>
              <a:t> that you want to use for predictive analysis</a:t>
            </a:r>
            <a:r>
              <a:rPr lang="en-US" dirty="0" smtClean="0"/>
              <a:t>. </a:t>
            </a:r>
          </a:p>
          <a:p>
            <a:r>
              <a:rPr lang="en-US" dirty="0"/>
              <a:t>Add a suitable </a:t>
            </a:r>
            <a:r>
              <a:rPr lang="en-US" b="1" dirty="0"/>
              <a:t>Source node</a:t>
            </a:r>
            <a:r>
              <a:rPr lang="en-US" dirty="0"/>
              <a:t> and load the dataset</a:t>
            </a:r>
            <a:r>
              <a:rPr lang="en-US" dirty="0" smtClean="0"/>
              <a:t>.  </a:t>
            </a:r>
          </a:p>
          <a:p>
            <a:r>
              <a:rPr lang="en-US" dirty="0"/>
              <a:t>Check the dataset for required fields, records, and missing values</a:t>
            </a:r>
            <a:r>
              <a:rPr lang="en-US" dirty="0" smtClean="0"/>
              <a:t>.  </a:t>
            </a:r>
          </a:p>
          <a:p>
            <a:r>
              <a:rPr lang="en-US" dirty="0"/>
              <a:t>Go to the </a:t>
            </a:r>
            <a:r>
              <a:rPr lang="en-US" b="1" dirty="0"/>
              <a:t>Record Operations</a:t>
            </a:r>
            <a:r>
              <a:rPr lang="en-US" dirty="0"/>
              <a:t> palette.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758" y="1053549"/>
            <a:ext cx="6997146" cy="551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613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10817"/>
            <a:ext cx="10300185" cy="1338470"/>
          </a:xfrm>
        </p:spPr>
        <p:txBody>
          <a:bodyPr/>
          <a:lstStyle/>
          <a:p>
            <a:r>
              <a:rPr lang="en-US" dirty="0"/>
              <a:t>Advantages of Sampling in IBM SPSS Modeler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565" y="2266122"/>
            <a:ext cx="10548731" cy="4214191"/>
          </a:xfrm>
        </p:spPr>
        <p:txBody>
          <a:bodyPr/>
          <a:lstStyle/>
          <a:p>
            <a:r>
              <a:rPr lang="en-IN" dirty="0" smtClean="0"/>
              <a:t>Reduces data sizes </a:t>
            </a:r>
          </a:p>
          <a:p>
            <a:r>
              <a:rPr lang="en-IN" dirty="0" smtClean="0"/>
              <a:t>Saves Time </a:t>
            </a:r>
          </a:p>
          <a:p>
            <a:r>
              <a:rPr lang="en-IN" dirty="0" smtClean="0"/>
              <a:t>Makes Analysis easier </a:t>
            </a:r>
          </a:p>
          <a:p>
            <a:r>
              <a:rPr lang="en-IN" dirty="0" smtClean="0"/>
              <a:t>Useful for Predictive </a:t>
            </a:r>
            <a:r>
              <a:rPr lang="en-IN" dirty="0" err="1" smtClean="0"/>
              <a:t>Modeling</a:t>
            </a:r>
            <a:r>
              <a:rPr lang="en-IN" dirty="0" smtClean="0"/>
              <a:t> </a:t>
            </a:r>
          </a:p>
          <a:p>
            <a:r>
              <a:rPr lang="en-IN" dirty="0" smtClean="0"/>
              <a:t>Useful for large dataset . 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009" y="1258957"/>
            <a:ext cx="7394714" cy="536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58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251791"/>
            <a:ext cx="10379698" cy="675862"/>
          </a:xfrm>
        </p:spPr>
        <p:txBody>
          <a:bodyPr/>
          <a:lstStyle/>
          <a:p>
            <a:r>
              <a:rPr lang="en-IN" dirty="0" smtClean="0"/>
              <a:t>            </a:t>
            </a:r>
            <a:r>
              <a:rPr lang="en-US" altLang="en-US" sz="4400" b="1" dirty="0">
                <a:solidFill>
                  <a:schemeClr val="tx1"/>
                </a:solidFill>
                <a:latin typeface="Arial" panose="020B0604020202020204" pitchFamily="34" charset="0"/>
              </a:rPr>
              <a:t>Sample Creation Process</a:t>
            </a:r>
            <a:r>
              <a:rPr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4644" y="1948070"/>
            <a:ext cx="2160104" cy="4300329"/>
          </a:xfrm>
        </p:spPr>
        <p:txBody>
          <a:bodyPr/>
          <a:lstStyle/>
          <a:p>
            <a:r>
              <a:rPr lang="en-IN" dirty="0" smtClean="0"/>
              <a:t>Import the dataset  </a:t>
            </a:r>
          </a:p>
          <a:p>
            <a:r>
              <a:rPr lang="en-IN" dirty="0" smtClean="0"/>
              <a:t>Add source node </a:t>
            </a:r>
          </a:p>
          <a:p>
            <a:r>
              <a:rPr lang="en-IN" dirty="0" smtClean="0"/>
              <a:t>Add sampling mode </a:t>
            </a:r>
          </a:p>
          <a:p>
            <a:r>
              <a:rPr lang="en-IN" dirty="0" smtClean="0"/>
              <a:t>Connect the nodes </a:t>
            </a:r>
          </a:p>
          <a:p>
            <a:r>
              <a:rPr lang="en-IN" dirty="0" smtClean="0"/>
              <a:t>Open sample settings </a:t>
            </a:r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287" y="1192696"/>
            <a:ext cx="8348869" cy="542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204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10578480" cy="978517"/>
          </a:xfrm>
        </p:spPr>
        <p:txBody>
          <a:bodyPr/>
          <a:lstStyle/>
          <a:p>
            <a:r>
              <a:rPr lang="en-IN" dirty="0" smtClean="0"/>
              <a:t>                          Conclusion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431234"/>
            <a:ext cx="10273679" cy="51153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Sample Node in IBM SPSS Modeler</a:t>
            </a:r>
            <a:r>
              <a:rPr lang="en-US" dirty="0"/>
              <a:t> helps select a suitable subset of records from a large dataset.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It </a:t>
            </a:r>
            <a:r>
              <a:rPr lang="en-US" dirty="0"/>
              <a:t>reduces the size of data, saves processing time and computer resources, and makes data analysis easier.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Different </a:t>
            </a:r>
            <a:r>
              <a:rPr lang="en-US" dirty="0"/>
              <a:t>sampling methods can be used according to the requirement. The selected sample can be used for data exploration, model development, testing, and predictive analysis</a:t>
            </a:r>
            <a:r>
              <a:rPr lang="en-US" dirty="0" smtClean="0"/>
              <a:t>. </a:t>
            </a:r>
          </a:p>
          <a:p>
            <a:pPr marL="0" indent="0">
              <a:buNone/>
            </a:pPr>
            <a:r>
              <a:rPr lang="en-US" dirty="0" smtClean="0"/>
              <a:t>Overall</a:t>
            </a:r>
            <a:r>
              <a:rPr lang="en-US" dirty="0"/>
              <a:t>, sampling makes the data analysis process </a:t>
            </a:r>
            <a:r>
              <a:rPr lang="en-US" b="1" dirty="0"/>
              <a:t>faster, simpler, and more efficient</a:t>
            </a:r>
            <a:r>
              <a:rPr lang="en-US" dirty="0"/>
              <a:t>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89033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437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4478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120</TotalTime>
  <Words>351</Words>
  <Application>Microsoft Office PowerPoint</Application>
  <PresentationFormat>Widescreen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PowerPoint Presentation</vt:lpstr>
      <vt:lpstr>                           Introduction</vt:lpstr>
      <vt:lpstr>Purpose of Training and Testing Samples</vt:lpstr>
      <vt:lpstr>Types of sampling method in ibm spss modeller </vt:lpstr>
      <vt:lpstr>Creating Samples in IBM SPSS Modeler</vt:lpstr>
      <vt:lpstr>Advantages of Sampling in IBM SPSS Modeler</vt:lpstr>
      <vt:lpstr>            Sample Creation Process </vt:lpstr>
      <vt:lpstr>                          Conclusion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VINAYAK MISRA</dc:creator>
  <cp:lastModifiedBy>VINAYAK MISRA</cp:lastModifiedBy>
  <cp:revision>23</cp:revision>
  <dcterms:created xsi:type="dcterms:W3CDTF">2026-10-19T11:15:46Z</dcterms:created>
  <dcterms:modified xsi:type="dcterms:W3CDTF">2026-10-20T14:49:46Z</dcterms:modified>
</cp:coreProperties>
</file>